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MASTER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MASTER">
    <p:bg>
      <p:bgPr>
        <a:solidFill>
          <a:srgbClr val="2A26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-1828800"/>
            <a:ext cx="7315200" cy="7315200"/>
          </a:xfrm>
          <a:prstGeom prst="ellipse">
            <a:avLst/>
          </a:prstGeom>
          <a:solidFill>
            <a:srgbClr val="8B7AD9">
              <a:alpha val="40000"/>
            </a:srgbClr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2743200"/>
            <a:ext cx="8229600" cy="8229600"/>
          </a:xfrm>
          <a:prstGeom prst="ellipse">
            <a:avLst/>
          </a:prstGeom>
          <a:solidFill>
            <a:srgbClr val="7EC4A5">
              <a:alpha val="30000"/>
            </a:srgbClr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731520"/>
            <a:ext cx="121889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dirty="0">
                <a:solidFill>
                  <a:srgbClr val="000000"/>
                </a:solidFill>
              </a:rPr>
              <a:t>⛺</a:t>
            </a:r>
            <a:endParaRPr lang="en-US" sz="10000" dirty="0"/>
          </a:p>
        </p:txBody>
      </p:sp>
      <p:sp>
        <p:nvSpPr>
          <p:cNvPr id="6" name="Text 4"/>
          <p:cNvSpPr/>
          <p:nvPr/>
        </p:nvSpPr>
        <p:spPr>
          <a:xfrm>
            <a:off x="0" y="219456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마음의 베이스캠프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0" y="338328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E7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청소년 수련회용 AI 성경 멘토 코칭 앱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0" y="48463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4B8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✦ </a:t>
            </a:r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Trinity AI Forum</a:t>
            </a:r>
            <a:pPr algn="ctr" indent="0" marL="0">
              <a:buNone/>
            </a:pPr>
            <a:r>
              <a:rPr lang="en-US" sz="2000" dirty="0">
                <a:solidFill>
                  <a:srgbClr val="F4B8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✦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0" y="53949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A9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by 글로벌코칭아카데미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0" y="61264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59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basecamp-app-woad.vercel.app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9728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⏱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0" y="2560320"/>
            <a:ext cx="12188952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600" b="1" dirty="0">
                <a:solidFill>
                  <a:srgbClr val="4A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교회 수련회에서
</a:t>
            </a:r>
            <a:pPr algn="ctr" indent="0" marL="0">
              <a:lnSpc>
                <a:spcPct val="125000"/>
              </a:lnSpc>
              <a:buNone/>
            </a:pPr>
            <a:r>
              <a:rPr lang="en-US" sz="4600" b="1" dirty="0">
                <a:solidFill>
                  <a:srgbClr val="4A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청소년이 진짜 속마음을
</a:t>
            </a:r>
            <a:pPr algn="ctr" indent="0" marL="0">
              <a:lnSpc>
                <a:spcPct val="125000"/>
              </a:lnSpc>
              <a:buNone/>
            </a:pPr>
            <a:r>
              <a:rPr lang="en-US" sz="4600" b="1" dirty="0">
                <a:solidFill>
                  <a:srgbClr val="4A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털어놓을 시간이
</a:t>
            </a:r>
            <a:pPr algn="ctr" indent="0" marL="0">
              <a:lnSpc>
                <a:spcPct val="125000"/>
              </a:lnSpc>
              <a:buNone/>
            </a:pPr>
            <a:r>
              <a:rPr lang="en-US" sz="4600" b="1" dirty="0">
                <a:solidFill>
                  <a:srgbClr val="8B7A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얼마나 될까요?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0" y="57607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7A759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여러분의 경험은 어땠나요?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7A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✦ 내 마음의 베이스캠프  </a:t>
            </a:r>
            <a:pPr indent="0" marL="0">
              <a:buNone/>
            </a:pPr>
            <a:r>
              <a:rPr lang="en-US" sz="1000" dirty="0">
                <a:solidFill>
                  <a:srgbClr val="7A759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by 글로벌코칭아카데미   —   2 / 15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26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수련회의 딜레마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759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많은 설교·프로그램, 그러나 1:1 깊은 대화는 늘 부족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9496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B8A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945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BF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충분히 많음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743200"/>
            <a:ext cx="4754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4A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집회·설교 (4-5회)
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4A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찬양·QT 프로그램
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4A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레크리에이션·조모임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217920" y="2011680"/>
            <a:ext cx="539496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4737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21945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4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✗ 늘 부족함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83680" y="2743200"/>
            <a:ext cx="4754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4A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1:1 깊은 대화 시간
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4A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익명으로 속마음 털어놓을 공간
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4A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학생별 고민 파악·상담 데이터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B7A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교사는 "내 학생이 지금 뭘 고민하지?" 궁금해도 알기 어렵다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7A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✦ 내 마음의 베이스캠프  </a:t>
            </a:r>
            <a:pPr indent="0" marL="0">
              <a:buNone/>
            </a:pPr>
            <a:r>
              <a:rPr lang="en-US" sz="1000" dirty="0">
                <a:solidFill>
                  <a:srgbClr val="7A759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by 글로벌코칭아카데미   —   3 / 15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26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해답:  AI  +  성경 멘토  +  완전 익명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759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청소년이 성경 인물과 익명으로 대화, 교사는 익명 집계로 방향 설정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645920" y="2286000"/>
            <a:ext cx="3291840" cy="3291840"/>
          </a:xfrm>
          <a:prstGeom prst="ellipse">
            <a:avLst/>
          </a:prstGeom>
          <a:solidFill>
            <a:srgbClr val="8B7AD9">
              <a:alpha val="70000"/>
            </a:srgbClr>
          </a:solidFill>
          <a:ln w="25400">
            <a:solidFill>
              <a:srgbClr val="8B7A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0" y="2286000"/>
            <a:ext cx="3291840" cy="3291840"/>
          </a:xfrm>
          <a:prstGeom prst="ellipse">
            <a:avLst/>
          </a:prstGeom>
          <a:solidFill>
            <a:srgbClr val="7EC4A5">
              <a:alpha val="70000"/>
            </a:srgbClr>
          </a:solidFill>
          <a:ln w="25400">
            <a:solidFill>
              <a:srgbClr val="7EC4A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0" y="3474720"/>
            <a:ext cx="3291840" cy="3291840"/>
          </a:xfrm>
          <a:prstGeom prst="ellipse">
            <a:avLst/>
          </a:prstGeom>
          <a:solidFill>
            <a:srgbClr val="F4B860">
              <a:alpha val="70000"/>
            </a:srgbClr>
          </a:solidFill>
          <a:ln w="25400">
            <a:solidFill>
              <a:srgbClr val="F4B8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0" y="32004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7A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645920" y="374904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560"/>
                </a:solidFill>
              </a:rPr>
              <a:t>24시간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4560"/>
                </a:solidFill>
              </a:rPr>
              <a:t>대화 가능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126480" y="32004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EC4A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성경 멘토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126480" y="365760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560"/>
                </a:solidFill>
              </a:rPr>
              <a:t>8명의 특화된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4560"/>
                </a:solidFill>
              </a:rPr>
              <a:t>코칭 페르소나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0" y="45720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F5A1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익명성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657600" y="502920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560"/>
                </a:solidFill>
              </a:rPr>
              <a:t>이름·연락처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4560"/>
                </a:solidFill>
              </a:rPr>
              <a:t>수집 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503920" y="2560320"/>
            <a:ext cx="3108960" cy="3291840"/>
          </a:xfrm>
          <a:prstGeom prst="roundRect">
            <a:avLst>
              <a:gd name="adj" fmla="val 3529"/>
            </a:avLst>
          </a:prstGeom>
          <a:solidFill>
            <a:srgbClr val="F4F0FC"/>
          </a:solidFill>
          <a:ln w="12700">
            <a:solidFill>
              <a:srgbClr val="8B7A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595360" y="320040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7A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 내 마음의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8B7A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베이스캠프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595360" y="457200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수련회를 품는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A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따뜻한 쉼터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7A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✦ 내 마음의 베이스캠프  </a:t>
            </a:r>
            <a:pPr indent="0" marL="0">
              <a:buNone/>
            </a:pPr>
            <a:r>
              <a:rPr lang="en-US" sz="1000" dirty="0">
                <a:solidFill>
                  <a:srgbClr val="7A759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by 글로벌코칭아카데미   —   4 / 15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26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8명의 성경 멘토 ✨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759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멘토는 특화 영역과 고유 톤으로 청소년과 대화합니다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B8A9F0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0574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🎵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26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다윗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감정·상처·외로움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29000" y="1920240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F4B860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20574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👑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429000" y="27432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26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에스더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29000" y="32461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진로·용기·결단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920240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F4F0F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20574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✉️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217920" y="27432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26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바울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217920" y="32461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변화·회심·고난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06840" y="1920240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FFE7A3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006840" y="20574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🌈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9006840" y="27432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26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요셉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006840" y="32461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가족·용서·꿈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069080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ABDBC4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" y="420624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🌾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40080" y="48920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26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룻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40080" y="539496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우정·소속감·상실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29000" y="4069080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FFE7A3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429000" y="420624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🦁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3429000" y="48920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26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다니엘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429000" y="539496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정체성·유혹·또래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17920" y="4069080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F4F0F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217920" y="420624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🪜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6217920" y="48920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26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야곱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217920" y="539496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자기정체성·성장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006840" y="4069080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B8A9F0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006840" y="420624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🎣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9006840" y="48920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26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베드로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9006840" y="539496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실패·회복·좌절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0080" y="61722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7592"/>
                </a:solidFill>
              </a:rPr>
              <a:t>※ 프롬프트는 교파 논쟁을 회피하고 "은혜·회복·정체성" 중심으로 설계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7A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✦ 내 마음의 베이스캠프  </a:t>
            </a:r>
            <a:pPr indent="0" marL="0">
              <a:buNone/>
            </a:pPr>
            <a:r>
              <a:rPr lang="en-US" sz="1000" dirty="0">
                <a:solidFill>
                  <a:srgbClr val="7A759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by 글로벌코칭아카데미   —   5 / 15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26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숫자로 보는 베이스캠프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759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4가지 숫자만 기억하세요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606040" cy="34747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8B7A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920240"/>
            <a:ext cx="2606040" cy="137160"/>
          </a:xfrm>
          <a:prstGeom prst="rect">
            <a:avLst/>
          </a:prstGeom>
          <a:solidFill>
            <a:srgbClr val="8B7AD9"/>
          </a:solidFill>
          <a:ln w="12700">
            <a:solidFill>
              <a:srgbClr val="8B7A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377440"/>
            <a:ext cx="2606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8B7A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640080" y="38862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6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명의 성경 멘토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438912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759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다윗·에스더·바울·요셉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759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룻·다니엘·야곱·베드로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1920240"/>
            <a:ext cx="2606040" cy="34747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7EC4A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29000" y="1920240"/>
            <a:ext cx="2606040" cy="137160"/>
          </a:xfrm>
          <a:prstGeom prst="rect">
            <a:avLst/>
          </a:prstGeom>
          <a:solidFill>
            <a:srgbClr val="7EC4A5"/>
          </a:solidFill>
          <a:ln w="12700">
            <a:solidFill>
              <a:srgbClr val="7EC4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2377440"/>
            <a:ext cx="2606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7EC4A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</a:t>
            </a:r>
            <a:endParaRPr lang="en-US" sz="9600" dirty="0"/>
          </a:p>
        </p:txBody>
      </p:sp>
      <p:sp>
        <p:nvSpPr>
          <p:cNvPr id="12" name="Text 10"/>
          <p:cNvSpPr/>
          <p:nvPr/>
        </p:nvSpPr>
        <p:spPr>
          <a:xfrm>
            <a:off x="3429000" y="38862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6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 운영비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29000" y="438912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759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교회 부담 없음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759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(Groq 무료 AI 기반)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920240"/>
            <a:ext cx="2606040" cy="34747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4B86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920240"/>
            <a:ext cx="2606040" cy="137160"/>
          </a:xfrm>
          <a:prstGeom prst="rect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2377440"/>
            <a:ext cx="2606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4B8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</a:t>
            </a:r>
            <a:endParaRPr lang="en-US" sz="9600" dirty="0"/>
          </a:p>
        </p:txBody>
      </p:sp>
      <p:sp>
        <p:nvSpPr>
          <p:cNvPr id="17" name="Text 15"/>
          <p:cNvSpPr/>
          <p:nvPr/>
        </p:nvSpPr>
        <p:spPr>
          <a:xfrm>
            <a:off x="6217920" y="38862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6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 자동 파기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17920" y="438912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759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수련회 종료 후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759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대화 원문 영구 삭제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06840" y="1920240"/>
            <a:ext cx="2606040" cy="34747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9B59B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006840" y="1920240"/>
            <a:ext cx="2606040" cy="13716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06840" y="2377440"/>
            <a:ext cx="2606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9B59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∞</a:t>
            </a:r>
            <a:endParaRPr lang="en-US" sz="9600" dirty="0"/>
          </a:p>
        </p:txBody>
      </p:sp>
      <p:sp>
        <p:nvSpPr>
          <p:cNvPr id="22" name="Text 20"/>
          <p:cNvSpPr/>
          <p:nvPr/>
        </p:nvSpPr>
        <p:spPr>
          <a:xfrm>
            <a:off x="9006840" y="38862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6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완전 익명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006840" y="438912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759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이름·연락처·이메일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759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수집 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7A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#8명  #0원  #30일  #완전익명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7A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✦ 내 마음의 베이스캠프  </a:t>
            </a:r>
            <a:pPr indent="0" marL="0">
              <a:buNone/>
            </a:pPr>
            <a:r>
              <a:rPr lang="en-US" sz="1000" dirty="0">
                <a:solidFill>
                  <a:srgbClr val="7A759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by 글로벌코칭아카데미   —   6 / 15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26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교사도 원문을 볼 수 없습니다 🔒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759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학생 대화 → AI 분류 → K-익명성 필터 → 집계만 교사에게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651760" cy="2103120"/>
          </a:xfrm>
          <a:prstGeom prst="roundRect">
            <a:avLst>
              <a:gd name="adj" fmla="val 5217"/>
            </a:avLst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학생 대화 원문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3375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암호화 저장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180일 후 파기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 rot="5400000">
            <a:off x="3246120" y="3017520"/>
            <a:ext cx="274320" cy="274320"/>
          </a:xfrm>
          <a:prstGeom prst="rightTriangle">
            <a:avLst/>
          </a:prstGeom>
          <a:solidFill>
            <a:srgbClr val="7A7592"/>
          </a:solidFill>
          <a:ln w="12700">
            <a:solidFill>
              <a:srgbClr val="7A759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2103120"/>
            <a:ext cx="2651760" cy="2103120"/>
          </a:xfrm>
          <a:prstGeom prst="roundRect">
            <a:avLst>
              <a:gd name="adj" fmla="val 5217"/>
            </a:avLst>
          </a:prstGeom>
          <a:solidFill>
            <a:srgbClr val="8B7AD9"/>
          </a:solidFill>
          <a:ln w="12700">
            <a:solidFill>
              <a:srgbClr val="8B7A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1188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11880" y="27432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카테고리 분류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11880" y="33375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감정·키워드 태깅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집계만 추출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 rot="5400000">
            <a:off x="6035040" y="3017520"/>
            <a:ext cx="274320" cy="274320"/>
          </a:xfrm>
          <a:prstGeom prst="rightTriangle">
            <a:avLst/>
          </a:prstGeom>
          <a:solidFill>
            <a:srgbClr val="7A7592"/>
          </a:solidFill>
          <a:ln w="12700">
            <a:solidFill>
              <a:srgbClr val="7A759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2103120"/>
            <a:ext cx="2651760" cy="2103120"/>
          </a:xfrm>
          <a:prstGeom prst="roundRect">
            <a:avLst>
              <a:gd name="adj" fmla="val 5217"/>
            </a:avLst>
          </a:prstGeom>
          <a:solidFill>
            <a:srgbClr val="7EC4A5"/>
          </a:solidFill>
          <a:ln w="12700">
            <a:solidFill>
              <a:srgbClr val="7EC4A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400800" y="27432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K≥5 익명성 필터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0" y="33375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5명 미만 응답은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 비공개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 rot="5400000">
            <a:off x="8823960" y="3017520"/>
            <a:ext cx="274320" cy="274320"/>
          </a:xfrm>
          <a:prstGeom prst="rightTriangle">
            <a:avLst/>
          </a:prstGeom>
          <a:solidFill>
            <a:srgbClr val="7A7592"/>
          </a:solidFill>
          <a:ln w="12700">
            <a:solidFill>
              <a:srgbClr val="7A759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06840" y="2103120"/>
            <a:ext cx="2651760" cy="2103120"/>
          </a:xfrm>
          <a:prstGeom prst="roundRect">
            <a:avLst>
              <a:gd name="adj" fmla="val 5217"/>
            </a:avLst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8972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189720" y="27432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교사 대시보드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89720" y="33375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참여율·고민영역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키워드·감정트렌드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4754880"/>
            <a:ext cx="10881360" cy="1280160"/>
          </a:xfrm>
          <a:prstGeom prst="roundRect">
            <a:avLst>
              <a:gd name="adj" fmla="val 8571"/>
            </a:avLst>
          </a:prstGeom>
          <a:solidFill>
            <a:srgbClr val="F4F0FC"/>
          </a:solidFill>
          <a:ln w="12700">
            <a:solidFill>
              <a:srgbClr val="8B7A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22960" y="4892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A26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⚠ 교사 API 경로에 </a:t>
            </a:r>
            <a:pPr algn="ctr" indent="0" marL="0">
              <a:buNone/>
            </a:pPr>
            <a:r>
              <a:rPr lang="en-US" sz="1500" b="1" dirty="0">
                <a:solidFill>
                  <a:srgbClr val="8B7A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messages 원문 접근 권한 자체가 없음</a:t>
            </a:r>
            <a:pPr algn="ctr" indent="0" marL="0">
              <a:buNone/>
            </a:pPr>
            <a:r>
              <a:rPr lang="en-US" sz="1500" dirty="0">
                <a:solidFill>
                  <a:srgbClr val="7A759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·   </a:t>
            </a:r>
            <a:pPr algn="ctr" indent="0" marL="0">
              <a:buNone/>
            </a:pPr>
            <a:r>
              <a:rPr lang="en-US" sz="1500" b="1" dirty="0">
                <a:solidFill>
                  <a:srgbClr val="2A26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Supabase RLS로 물리적 차단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22960" y="53492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592"/>
                </a:solidFill>
              </a:rPr>
              <a:t>5명 미만 카테고리는 자동 블라인드 처리 · 수련회 30일 후 원문 영구 파기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7A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✦ 내 마음의 베이스캠프  </a:t>
            </a:r>
            <a:pPr indent="0" marL="0">
              <a:buNone/>
            </a:pPr>
            <a:r>
              <a:rPr lang="en-US" sz="1000" dirty="0">
                <a:solidFill>
                  <a:srgbClr val="7A759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by 글로벌코칭아카데미   —   7 / 15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26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 청소년 몰입감 최우선 🇰🇷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759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한국어 문맥에 섞는 외국어를 강제 차단·치환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94960" cy="3840480"/>
          </a:xfrm>
          <a:prstGeom prst="roundRect">
            <a:avLst>
              <a:gd name="adj" fmla="val 2857"/>
            </a:avLst>
          </a:prstGeom>
          <a:solidFill>
            <a:srgbClr val="FDECEC"/>
          </a:solidFill>
          <a:ln w="12700">
            <a:solidFill>
              <a:srgbClr val="E4737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1488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✗ 이런 응답이 나오면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2640"/>
                </a:solidFill>
              </a:rPr>
              <a:t>"告诉해봐, 괜찮아"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2640"/>
                </a:solidFill>
              </a:rPr>
              <a:t>"Thank you for sharing"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8404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2640"/>
                </a:solidFill>
              </a:rPr>
              <a:t>"отсутств하여 파악 어려움"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43891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2640"/>
                </a:solidFill>
              </a:rPr>
              <a:t>"ありがとう라고 말했어요"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5120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592"/>
                </a:solidFill>
              </a:rPr>
              <a:t>→ 청소년 몰입감 즉시 깨짐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3474720"/>
            <a:ext cx="548640" cy="640080"/>
          </a:xfrm>
          <a:prstGeom prst="rightArrow">
            <a:avLst/>
          </a:prstGeom>
          <a:solidFill>
            <a:srgbClr val="8B7AD9"/>
          </a:solidFill>
          <a:ln w="12700">
            <a:solidFill>
              <a:srgbClr val="8B7A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66560" y="2011680"/>
            <a:ext cx="4846320" cy="3840480"/>
          </a:xfrm>
          <a:prstGeom prst="roundRect">
            <a:avLst>
              <a:gd name="adj" fmla="val 2857"/>
            </a:avLst>
          </a:prstGeom>
          <a:solidFill>
            <a:srgbClr val="E8F5E9"/>
          </a:solidFill>
          <a:ln w="12700">
            <a:solidFill>
              <a:srgbClr val="6BBF8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949440" y="214884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BF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sanitizeKorean 필터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49440" y="27432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2640"/>
                </a:solidFill>
              </a:rPr>
              <a:t>"이야기해봐, 괜찮아"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949440" y="32918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2640"/>
                </a:solidFill>
              </a:rPr>
              <a:t>"말해줘서 고마워"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949440" y="38404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2640"/>
                </a:solidFill>
              </a:rPr>
              <a:t>"파악하기 어려움"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949440" y="43891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2640"/>
                </a:solidFill>
              </a:rPr>
              <a:t>"라고 말했어요"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949440" y="51206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592"/>
                </a:solidFill>
              </a:rPr>
              <a:t>→ 깨끗한 순수 한국어 대화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598932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7592"/>
                </a:solidFill>
              </a:rPr>
              <a:t>9개 외국어 스크립트 자동 제거: 중국어·영어·러시아어·일본어·아랍어·히브리어·그리스어·태국어·힌디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7A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✦ 내 마음의 베이스캠프  </a:t>
            </a:r>
            <a:pPr indent="0" marL="0">
              <a:buNone/>
            </a:pPr>
            <a:r>
              <a:rPr lang="en-US" sz="1000" dirty="0">
                <a:solidFill>
                  <a:srgbClr val="7A759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by 글로벌코칭아카데미   —   8 / 15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4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위기 신호 자동 감지 🆘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759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자해·학대·절망 신호 실시간 탐지 → 즉시 상담 리소스 연결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9728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B8A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감지 대상 카테고리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🆘 자해·자살 징후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4A4560"/>
                </a:solidFill>
              </a:rPr>
              <a:t>"죽고 싶어", "뛰어내리", "유서"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434840" y="2377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5A1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🛡️ 학대·폭력 언급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34840" y="278892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4A4560"/>
                </a:solidFill>
              </a:rPr>
              <a:t>"맞았어", "가정폭력", "성추행"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0" y="2377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B8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😔 심한 절망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046720" y="278892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4A4560"/>
                </a:solidFill>
              </a:rPr>
              <a:t>"의미 없어", "다 끝내"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4206240"/>
            <a:ext cx="10972800" cy="182880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12700">
            <a:solidFill>
              <a:srgbClr val="E4737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42976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즉시 반응 — 3단계 에스컬레이션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47548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554480" y="4754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6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학생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54480" y="51206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4560"/>
                </a:solidFill>
              </a:rPr>
              <a:t>채팅 화면에 즉시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4560"/>
                </a:solidFill>
              </a:rPr>
              <a:t>1388 · 1393 핫라인 표시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34840" y="47548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👨‍🏫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166360" y="4754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6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교사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66360" y="51206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4560"/>
                </a:solidFill>
              </a:rPr>
              <a:t>대시보드에 카테고리만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4560"/>
                </a:solidFill>
              </a:rPr>
              <a:t>(원문·닉네임·시점 비공개)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46720" y="47548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🛠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778240" y="4754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6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778240" y="51206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4560"/>
                </a:solidFill>
              </a:rPr>
              <a:t>긴급 표현 감지 시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4560"/>
                </a:solidFill>
              </a:rPr>
              <a:t>별도 실시간 알림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7A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✦ 내 마음의 베이스캠프  </a:t>
            </a:r>
            <a:pPr indent="0" marL="0">
              <a:buNone/>
            </a:pPr>
            <a:r>
              <a:rPr lang="en-US" sz="1000" dirty="0">
                <a:solidFill>
                  <a:srgbClr val="7A759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by 글로벌코칭아카데미   —   9 / 15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0FC"/>
          </a:solidFill>
          <a:ln w="12700">
            <a:solidFill>
              <a:srgbClr val="F4F0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B7A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🔴 지금 함께 해봅시다 📱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759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스마트폰으로 QR을 스캔하고 학생이 되어보세요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97280" y="2103120"/>
            <a:ext cx="438912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8B7A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54480" y="2560320"/>
            <a:ext cx="3474720" cy="347472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347472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[ QR 코드 이미지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  여기에 삽입 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61264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basecamp-app-woad.vercel.app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0" y="2286000"/>
            <a:ext cx="502920" cy="502920"/>
          </a:xfrm>
          <a:prstGeom prst="ellipse">
            <a:avLst/>
          </a:prstGeom>
          <a:solidFill>
            <a:srgbClr val="8B7AD9"/>
          </a:solidFill>
          <a:ln w="12700">
            <a:solidFill>
              <a:srgbClr val="8B7A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0" y="231343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75120" y="23317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A26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QR 스캔 or URL 접속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943600" y="2926080"/>
            <a:ext cx="502920" cy="502920"/>
          </a:xfrm>
          <a:prstGeom prst="ellipse">
            <a:avLst/>
          </a:prstGeom>
          <a:solidFill>
            <a:srgbClr val="8B7AD9"/>
          </a:solidFill>
          <a:ln w="12700">
            <a:solidFill>
              <a:srgbClr val="8B7A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295351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75120" y="29718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A26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"학생 입장" 클릭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943600" y="3566160"/>
            <a:ext cx="502920" cy="502920"/>
          </a:xfrm>
          <a:prstGeom prst="ellipse">
            <a:avLst/>
          </a:prstGeom>
          <a:solidFill>
            <a:srgbClr val="8B7AD9"/>
          </a:solidFill>
          <a:ln w="12700">
            <a:solidFill>
              <a:srgbClr val="8B7A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359359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675120" y="36118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A26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입장코드 입력: _______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943600" y="4206240"/>
            <a:ext cx="502920" cy="502920"/>
          </a:xfrm>
          <a:prstGeom prst="ellipse">
            <a:avLst/>
          </a:prstGeom>
          <a:solidFill>
            <a:srgbClr val="8B7AD9"/>
          </a:solidFill>
          <a:ln w="12700">
            <a:solidFill>
              <a:srgbClr val="8B7A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0" y="423367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675120" y="42519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A26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닉네임 자유 설정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5943600" y="4846320"/>
            <a:ext cx="502920" cy="502920"/>
          </a:xfrm>
          <a:prstGeom prst="ellipse">
            <a:avLst/>
          </a:prstGeom>
          <a:solidFill>
            <a:srgbClr val="8B7AD9"/>
          </a:solidFill>
          <a:ln w="12700">
            <a:solidFill>
              <a:srgbClr val="8B7A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487375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675120" y="4892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A26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멘토 한 명 선택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5943600" y="5486400"/>
            <a:ext cx="502920" cy="502920"/>
          </a:xfrm>
          <a:prstGeom prst="ellipse">
            <a:avLst/>
          </a:prstGeom>
          <a:solidFill>
            <a:srgbClr val="8B7AD9"/>
          </a:solidFill>
          <a:ln w="12700">
            <a:solidFill>
              <a:srgbClr val="8B7A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0" y="551383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675120" y="55321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A26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고민 한 문장 보내기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7A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✦ 내 마음의 베이스캠프  </a:t>
            </a:r>
            <a:pPr indent="0" marL="0">
              <a:buNone/>
            </a:pPr>
            <a:r>
              <a:rPr lang="en-US" sz="1000" dirty="0">
                <a:solidFill>
                  <a:srgbClr val="7A759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by 글로벌코칭아카데미   —   10 / 15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26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교사는 이렇게 씁니다 👨‍🏫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759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4단계 · 첫 수련회 개설까지 5분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8B7A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00200" y="1737360"/>
            <a:ext cx="731520" cy="731520"/>
          </a:xfrm>
          <a:prstGeom prst="ellipse">
            <a:avLst/>
          </a:prstGeom>
          <a:solidFill>
            <a:srgbClr val="8B7A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00200" y="1773936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26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가입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31546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7A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3분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이메일 + 교회명만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 → 즉시 활성화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29000" y="210312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7EC4A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89120" y="1737360"/>
            <a:ext cx="731520" cy="731520"/>
          </a:xfrm>
          <a:prstGeom prst="ellipse">
            <a:avLst/>
          </a:prstGeom>
          <a:solidFill>
            <a:srgbClr val="7EC4A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1773936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429000" y="26517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26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수련회 등록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29000" y="31546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EC4A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30초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29000" y="365760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제목·기간·예상 인원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6자리 코드 발급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210312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F4B86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78040" y="1737360"/>
            <a:ext cx="731520" cy="731520"/>
          </a:xfrm>
          <a:prstGeom prst="ellipse">
            <a:avLst/>
          </a:prstGeom>
          <a:solidFill>
            <a:srgbClr val="F4B8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78040" y="1773936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217920" y="26517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26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배포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217920" y="31546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B8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즉시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17920" y="365760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[코드 복사]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[학생 안내 링크 복사]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006840" y="210312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9B59B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966960" y="1737360"/>
            <a:ext cx="731520" cy="73152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66960" y="1773936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9006840" y="26517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26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대시보드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006840" y="31546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59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006840" y="365760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참여율·고민영역·키워드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감정 트렌드·위기 알림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56692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B7A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카톡 안내 메시지 자동 생성 버튼 한 번이면 학생들에게 바로 전송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7A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✦ 내 마음의 베이스캠프  </a:t>
            </a:r>
            <a:pPr indent="0" marL="0">
              <a:buNone/>
            </a:pPr>
            <a:r>
              <a:rPr lang="en-US" sz="1000" dirty="0">
                <a:solidFill>
                  <a:srgbClr val="7A759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by 글로벌코칭아카데미   —   11 / 15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26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요약해주는 수련회 인사이트 🤖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759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집계 데이터 → AI 분석 → 오늘 저녁 집회 주제 조정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48640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B8A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01168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6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📊 교사 대시보드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56032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F4F0FC"/>
          </a:solidFill>
          <a:ln w="12700">
            <a:solidFill>
              <a:srgbClr val="B8A9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6060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592"/>
                </a:solidFill>
              </a:rPr>
              <a:t>참여율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28346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7A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87%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474720" y="256032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FDECEC"/>
          </a:solidFill>
          <a:ln w="12700">
            <a:solidFill>
              <a:srgbClr val="E4737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26060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592"/>
                </a:solidFill>
              </a:rPr>
              <a:t>위기 신호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11880" y="28346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4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2건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822960" y="36118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640"/>
                </a:solidFill>
              </a:rPr>
              <a:t>💭 고민 영역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397764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8B7AD9">
              <a:alpha val="20000"/>
            </a:srgbClr>
          </a:solidFill>
          <a:ln w="12700">
            <a:solidFill>
              <a:srgbClr val="8B7A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99592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7AD9"/>
                </a:solidFill>
              </a:rPr>
              <a:t>자기정체성 38%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29000" y="397764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7EC4A5">
              <a:alpha val="20000"/>
            </a:srgbClr>
          </a:solidFill>
          <a:ln w="12700">
            <a:solidFill>
              <a:srgbClr val="7EC4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399592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EC4A5"/>
                </a:solidFill>
              </a:rPr>
              <a:t>관계 23%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" y="448056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4B860">
              <a:alpha val="20000"/>
            </a:srgbClr>
          </a:solidFill>
          <a:ln w="12700">
            <a:solidFill>
              <a:srgbClr val="F4B8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49884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B860"/>
                </a:solidFill>
              </a:rPr>
              <a:t>진로 15%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29000" y="448056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9B59B6">
              <a:alpha val="20000"/>
            </a:srgbClr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29000" y="449884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59B6"/>
                </a:solidFill>
              </a:rPr>
              <a:t>신앙 12%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50749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640"/>
                </a:solidFill>
              </a:rPr>
              <a:t>🔑 키워드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539496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7AD9"/>
                </a:solidFill>
              </a:rPr>
              <a:t>#친구 </a:t>
            </a:r>
            <a:pPr indent="0" marL="0">
              <a:buNone/>
            </a:pPr>
            <a:r>
              <a:rPr lang="en-US" sz="1400" b="1" dirty="0">
                <a:solidFill>
                  <a:srgbClr val="7EC4A5"/>
                </a:solidFill>
              </a:rPr>
              <a:t>#미래 </a:t>
            </a:r>
            <a:pPr indent="0" marL="0">
              <a:buNone/>
            </a:pPr>
            <a:r>
              <a:rPr lang="en-US" sz="1800" b="1" dirty="0">
                <a:solidFill>
                  <a:srgbClr val="E47373"/>
                </a:solidFill>
              </a:rPr>
              <a:t>#불안 </a:t>
            </a:r>
            <a:pPr indent="0" marL="0">
              <a:buNone/>
            </a:pPr>
            <a:r>
              <a:rPr lang="en-US" sz="1200" b="1" dirty="0">
                <a:solidFill>
                  <a:srgbClr val="F4B860"/>
                </a:solidFill>
              </a:rPr>
              <a:t>#꿈 </a:t>
            </a:r>
            <a:pPr indent="0" marL="0">
              <a:buNone/>
            </a:pPr>
            <a:r>
              <a:rPr lang="en-US" sz="1500" b="1" dirty="0">
                <a:solidFill>
                  <a:srgbClr val="8B7AD9"/>
                </a:solidFill>
              </a:rPr>
              <a:t>#하나님 </a:t>
            </a:r>
            <a:pPr indent="0" marL="0">
              <a:buNone/>
            </a:pPr>
            <a:r>
              <a:rPr lang="en-US" sz="1300" dirty="0">
                <a:solidFill>
                  <a:srgbClr val="4A4560"/>
                </a:solidFill>
              </a:rPr>
              <a:t>#엄마 </a:t>
            </a:r>
            <a:pPr indent="0" marL="0">
              <a:buNone/>
            </a:pPr>
            <a:r>
              <a:rPr lang="en-US" sz="1100" dirty="0">
                <a:solidFill>
                  <a:srgbClr val="4A4560"/>
                </a:solidFill>
              </a:rPr>
              <a:t>#학교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09360" y="1920240"/>
            <a:ext cx="5303520" cy="4114800"/>
          </a:xfrm>
          <a:prstGeom prst="roundRect">
            <a:avLst>
              <a:gd name="adj" fmla="val 2667"/>
            </a:avLst>
          </a:prstGeom>
          <a:solidFill>
            <a:srgbClr val="FFE7A3"/>
          </a:solidFill>
          <a:ln w="12700">
            <a:solidFill>
              <a:srgbClr val="F4B86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92240" y="20574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5A1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🤖 AI 수련회 반영 분석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92240" y="25603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7A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현재 모습 ]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92240" y="288036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E4A14"/>
                </a:solidFill>
              </a:rPr>
              <a:t>이번 수련회 학생들은 "진로"와 "관계"를 가장 많이 고민하고 있으며, 1일차 대비 2일차에 긍정 감정으로 이동했습니다.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92240" y="36576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7A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눈여겨볼 지점 ]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92240" y="39776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E4A14"/>
                </a:solidFill>
              </a:rPr>
              <a:t>자기정체성 카테고리에서 "자존감" 키워드가 급증. 야곱·베드로 멘토 선호도 상승.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92240" y="46634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7A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수련회 반영 제안 ]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92240" y="498348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E4A14"/>
                </a:solidFill>
              </a:rPr>
              <a:t>오늘 저녁 집회 주제를 "이름이 바뀐 야곱" 사례로 전환 권장. 조별 나눔에서 "자존감" 주제 집중.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7A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✦ 내 마음의 베이스캠프  </a:t>
            </a:r>
            <a:pPr indent="0" marL="0">
              <a:buNone/>
            </a:pPr>
            <a:r>
              <a:rPr lang="en-US" sz="1000" dirty="0">
                <a:solidFill>
                  <a:srgbClr val="7A759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by 글로벌코칭아카데미   —   12 / 15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26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실전 사용 타임라인 📅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759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수련회 일정에 "개인 묵상 30분" 블록만 추가하면 됩니다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8B7A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011680"/>
            <a:ext cx="2651760" cy="137160"/>
          </a:xfrm>
          <a:prstGeom prst="rect">
            <a:avLst/>
          </a:prstGeom>
          <a:solidFill>
            <a:srgbClr val="8B7AD9"/>
          </a:solidFill>
          <a:ln w="12700">
            <a:solidFill>
              <a:srgbClr val="8B7A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2860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📅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7A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1주 전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474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26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준비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402336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560"/>
                </a:solidFill>
              </a:rPr>
              <a:t>교사 가입 + 수련회 등록</a:t>
            </a:r>
            <a:endParaRPr lang="en-US" sz="11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560"/>
                </a:solidFill>
              </a:rPr>
              <a:t>입장코드 QR 생성</a:t>
            </a:r>
            <a:endParaRPr lang="en-US" sz="11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560"/>
                </a:solidFill>
              </a:rPr>
              <a:t>카톡으로 학생 배포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29000" y="2011680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7EC4A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2011680"/>
            <a:ext cx="2651760" cy="137160"/>
          </a:xfrm>
          <a:prstGeom prst="rect">
            <a:avLst/>
          </a:prstGeom>
          <a:solidFill>
            <a:srgbClr val="7EC4A5"/>
          </a:solidFill>
          <a:ln w="12700">
            <a:solidFill>
              <a:srgbClr val="7EC4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22860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🏕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429000" y="3108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EC4A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당일 저녁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29000" y="3474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26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참여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657600" y="402336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560"/>
                </a:solidFill>
              </a:rPr>
              <a:t>집회 후 "개인 묵상 30분"</a:t>
            </a:r>
            <a:endParaRPr lang="en-US" sz="11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560"/>
                </a:solidFill>
              </a:rPr>
              <a:t>학생 자율로 멘토 대화</a:t>
            </a:r>
            <a:endParaRPr lang="en-US" sz="11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560"/>
                </a:solidFill>
              </a:rPr>
              <a:t>숙소·외부 어디서나 가능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2011680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F4B86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2011680"/>
            <a:ext cx="2651760" cy="137160"/>
          </a:xfrm>
          <a:prstGeom prst="rect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22860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🌅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217920" y="3108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B8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날 아침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0" y="3474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26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반영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46520" y="402336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560"/>
                </a:solidFill>
              </a:rPr>
              <a:t>대시보드 + AI 분석 확인</a:t>
            </a:r>
            <a:endParaRPr lang="en-US" sz="11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560"/>
                </a:solidFill>
              </a:rPr>
              <a:t>오늘 집회 주제 조정</a:t>
            </a:r>
            <a:endParaRPr lang="en-US" sz="11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560"/>
                </a:solidFill>
              </a:rPr>
              <a:t>조별 나눔 주제 재설계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006840" y="2011680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9B59B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006840" y="2011680"/>
            <a:ext cx="2651760" cy="13716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06840" y="22860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✉️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9006840" y="3108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59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수련회 후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006840" y="3474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26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후속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235440" y="402336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560"/>
                </a:solidFill>
              </a:rPr>
              <a:t>종합 리포트 열람</a:t>
            </a:r>
            <a:endParaRPr lang="en-US" sz="11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560"/>
                </a:solidFill>
              </a:rPr>
              <a:t>심방·후속 상담 논의</a:t>
            </a:r>
            <a:endParaRPr lang="en-US" sz="11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560"/>
                </a:solidFill>
              </a:rPr>
              <a:t>30일 뒤 원문 자동 파기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7A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✦ 내 마음의 베이스캠프  </a:t>
            </a:r>
            <a:pPr indent="0" marL="0">
              <a:buNone/>
            </a:pPr>
            <a:r>
              <a:rPr lang="en-US" sz="1000" dirty="0">
                <a:solidFill>
                  <a:srgbClr val="7A759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by 글로벌코칭아카데미   —   13 / 15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26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어떻게 무료인가? 💚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759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오픈소스 AI + 무료 인프라 티어로 운영비 0원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65176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8B7A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2860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🤖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2971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7A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Groq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3474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560"/>
                </a:solidFill>
              </a:rPr>
              <a:t>Llama 3.3 70B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88620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592"/>
                </a:solidFill>
              </a:rPr>
              <a:t>무료 티어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41148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26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 14,400회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429000" y="2011680"/>
            <a:ext cx="265176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7EC4A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29000" y="22860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💾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429000" y="2971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EC4A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Supabase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429000" y="3474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560"/>
                </a:solidFill>
              </a:rPr>
              <a:t>PostgreSQL + Auth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29000" y="388620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592"/>
                </a:solidFill>
              </a:rPr>
              <a:t>무료 티어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29000" y="41148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26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500MB DB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17920" y="2011680"/>
            <a:ext cx="265176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4B86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0" y="22860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☁️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6217920" y="2971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B8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Vercel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217920" y="3474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560"/>
                </a:solidFill>
              </a:rPr>
              <a:t>Serverless + CDN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0" y="388620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592"/>
                </a:solidFill>
              </a:rPr>
              <a:t>무료 티어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17920" y="41148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26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100GB/월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006840" y="2011680"/>
            <a:ext cx="265176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9B59B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006840" y="22860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🌐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9006840" y="2971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B59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도메인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006840" y="3474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560"/>
                </a:solidFill>
              </a:rPr>
              <a:t>vercel.app 서브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006840" y="388620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592"/>
                </a:solidFill>
              </a:rPr>
              <a:t>무료 티어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006840" y="41148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26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영구 무료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0080" y="5029200"/>
            <a:ext cx="10881360" cy="1097280"/>
          </a:xfrm>
          <a:prstGeom prst="roundRect">
            <a:avLst>
              <a:gd name="adj" fmla="val 10000"/>
            </a:avLst>
          </a:prstGeom>
          <a:solidFill>
            <a:srgbClr val="F4F0FC"/>
          </a:solidFill>
          <a:ln w="12700">
            <a:solidFill>
              <a:srgbClr val="8B7A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22960" y="5166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A26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운영자 공용 Groq 키 1개로  </a:t>
            </a:r>
            <a:pPr algn="ctr" indent="0" marL="0">
              <a:buNone/>
            </a:pPr>
            <a:r>
              <a:rPr lang="en-US" sz="1800" b="1" dirty="0">
                <a:solidFill>
                  <a:srgbClr val="8B7A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수련회 9개 동시 운영 가능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592"/>
                </a:solidFill>
              </a:rPr>
              <a:t>교회별 독립 할당량이 필요하면 설정 페이지에서 Groq 키를 개별 등록 (3분, 선택사항)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7A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✦ 내 마음의 베이스캠프  </a:t>
            </a:r>
            <a:pPr indent="0" marL="0">
              <a:buNone/>
            </a:pPr>
            <a:r>
              <a:rPr lang="en-US" sz="1000" dirty="0">
                <a:solidFill>
                  <a:srgbClr val="7A759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by 글로벌코칭아카데미   —   14 / 15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743200" y="-2743200"/>
            <a:ext cx="9144000" cy="9144000"/>
          </a:xfrm>
          <a:prstGeom prst="ellipse">
            <a:avLst/>
          </a:prstGeom>
          <a:solidFill>
            <a:srgbClr val="8B7AD9">
              <a:alpha val="35000"/>
            </a:srgbClr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3657600"/>
            <a:ext cx="8229600" cy="8229600"/>
          </a:xfrm>
          <a:prstGeom prst="ellipse">
            <a:avLst/>
          </a:prstGeom>
          <a:solidFill>
            <a:srgbClr val="7EC4A5">
              <a:alpha val="30000"/>
            </a:srgbClr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640080"/>
            <a:ext cx="12188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E7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청소년의 마음을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0" y="128016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안전하게 담는 그릇.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3840480" y="2560320"/>
            <a:ext cx="448056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297680" y="3017520"/>
            <a:ext cx="3566160" cy="228600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0" y="365760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[ QR 코드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  여기에 삽입 ]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40480" y="54406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640"/>
                </a:solidFill>
              </a:rPr>
              <a:t>basecamp-app-woad.vercel.app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0" y="594360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E7A3"/>
                </a:solidFill>
              </a:rPr>
              <a:t>🙏 오늘 가입 → 다음 수련회 바로 사용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0" y="640080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B8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✦ Trinity AI Forum ✦</a:t>
            </a:r>
            <a:pPr algn="ctr" indent="0" marL="0">
              <a:buNone/>
            </a:pPr>
            <a:r>
              <a:rPr lang="en-US" sz="1300" dirty="0">
                <a:solidFill>
                  <a:srgbClr val="B8A9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by 글로벌코칭아카데미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2026-04-19T09:00:39Z</dcterms:created>
  <dcterms:modified xsi:type="dcterms:W3CDTF">2026-04-19T09:00:39Z</dcterms:modified>
</cp:coreProperties>
</file>